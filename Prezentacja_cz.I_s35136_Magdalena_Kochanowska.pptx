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4"/>
  </p:notesMasterIdLst>
  <p:handoutMasterIdLst>
    <p:handoutMasterId r:id="rId15"/>
  </p:handoutMasterIdLst>
  <p:sldIdLst>
    <p:sldId id="306" r:id="rId5"/>
    <p:sldId id="307" r:id="rId6"/>
    <p:sldId id="308" r:id="rId7"/>
    <p:sldId id="314" r:id="rId8"/>
    <p:sldId id="294" r:id="rId9"/>
    <p:sldId id="316" r:id="rId10"/>
    <p:sldId id="295" r:id="rId11"/>
    <p:sldId id="315" r:id="rId12"/>
    <p:sldId id="312" r:id="rId13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4967" autoAdjust="0"/>
  </p:normalViewPr>
  <p:slideViewPr>
    <p:cSldViewPr snapToGrid="0">
      <p:cViewPr varScale="1">
        <p:scale>
          <a:sx n="94" d="100"/>
          <a:sy n="94" d="100"/>
        </p:scale>
        <p:origin x="588" y="44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79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15A27AB6-8036-4355-ACB3-21EFA56C86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45EC3737-EFE5-4775-8C29-CABA7AECA4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0E0BC-85B5-4181-B993-B7D94166F6B8}" type="datetime1">
              <a:rPr lang="pl-PL" smtClean="0"/>
              <a:t>12.06.2026</a:t>
            </a:fld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00AD6E36-80AF-4D19-A511-AAE38EBE3C1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C5068D1-7F47-437B-BFB2-1DD0DB6226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12E7D5-BB3B-457A-B049-E81E06B85F0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23065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36A479-AEA9-4FB8-BAE5-29C2D0FE82D7}" type="datetime1">
              <a:rPr lang="pl-PL" smtClean="0"/>
              <a:pPr/>
              <a:t>12.06.2026</a:t>
            </a:fld>
            <a:endParaRPr lang="pl-PL" dirty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5939589-3E79-4C82-AA4A-FE78234FAA59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79946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18351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21262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EC57B-68CA-9C87-8842-AB5DD1877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9D5C0C9C-1369-1832-8B69-7A5904A0A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E2D12B69-ACB0-E03F-C84F-D4C706904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AE9563B-6BC2-098F-2664-352403C537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51057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35747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29FDC-2249-C658-A399-368D1079E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F448F2AC-9FDE-6B4B-75FE-D6411F16F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3B465F1E-7C81-7389-5D6D-104C81E9F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2ED2CF0-3A20-E61F-3B71-561A6AEC9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55094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7048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E19D6-E0CB-2A39-548E-3529AE3A1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8D86114C-8AC1-3EA0-FAFD-89A96BF9B2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75797761-F9CA-3551-98BE-CBAC21C1B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535C03C-3F55-635E-F557-A38095194F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99127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91255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l">
              <a:defRPr sz="6000" b="1" i="0" cap="all" baseline="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cxnSp>
        <p:nvCxnSpPr>
          <p:cNvPr id="11" name="Łącznik prosty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ytuł 2 — slajd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98448" y="594360"/>
            <a:ext cx="6272784" cy="2843784"/>
          </a:xfrm>
        </p:spPr>
        <p:txBody>
          <a:bodyPr rtlCol="0" anchor="b"/>
          <a:lstStyle>
            <a:lvl1pPr algn="l">
              <a:defRPr sz="54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1848" y="4700016"/>
            <a:ext cx="5093208" cy="1197864"/>
          </a:xfrm>
        </p:spPr>
        <p:txBody>
          <a:bodyPr rtlCol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fika 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  <p:sp>
        <p:nvSpPr>
          <p:cNvPr id="21" name="Grafika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  <p:sp>
        <p:nvSpPr>
          <p:cNvPr id="23" name="Grafika 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ylko tytuł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raz — symbol zastępczy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rtlCol="0"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Tytuł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20XX-09-03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Tytuł prezentacji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pl-PL" noProof="0" smtClean="0"/>
              <a:pPr/>
              <a:t>‹#›</a:t>
            </a:fld>
            <a:endParaRPr lang="pl-PL" noProof="0"/>
          </a:p>
        </p:txBody>
      </p: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kst — symbol zastępczy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02936" y="3127248"/>
            <a:ext cx="5833872" cy="3118104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1" name="Grafika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  <p:sp>
        <p:nvSpPr>
          <p:cNvPr id="13" name="Grafika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  <p:sp>
        <p:nvSpPr>
          <p:cNvPr id="17" name="Grafika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raz — symbol zastępczy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rtlCol="0" anchor="b"/>
          <a:lstStyle>
            <a:lvl1pPr>
              <a:defRPr sz="54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 rtlCol="0"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pl-PL" noProof="0"/>
              <a:t>20XX-09-03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 rtlCol="0"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pl-PL" noProof="0"/>
              <a:t>Tytuł prezentacji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pl-PL" noProof="0" smtClean="0"/>
              <a:pPr/>
              <a:t>‹#›</a:t>
            </a:fld>
            <a:endParaRPr lang="pl-PL" noProof="0"/>
          </a:p>
        </p:txBody>
      </p: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fika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  <p:sp>
        <p:nvSpPr>
          <p:cNvPr id="19" name="Grafika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główek sekcji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463040"/>
            <a:ext cx="9144000" cy="2340864"/>
          </a:xfrm>
        </p:spPr>
        <p:txBody>
          <a:bodyPr rtlCol="0"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sp>
        <p:nvSpPr>
          <p:cNvPr id="4" name="Grafika 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  <p:sp>
        <p:nvSpPr>
          <p:cNvPr id="5" name="Grafika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  <p:sp>
        <p:nvSpPr>
          <p:cNvPr id="6" name="Grafika 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  <p:sp>
        <p:nvSpPr>
          <p:cNvPr id="7" name="Grafika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  <p:sp>
        <p:nvSpPr>
          <p:cNvPr id="11" name="Grafika 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  <p:sp>
        <p:nvSpPr>
          <p:cNvPr id="13" name="Grafika 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 sz="54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41248"/>
            <a:ext cx="4434840" cy="3236976"/>
          </a:xfrm>
        </p:spPr>
        <p:txBody>
          <a:bodyPr rtlCol="0"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 rtlCol="0"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pl-PL" noProof="0"/>
              <a:t>Tytuł prezentacji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pl-PL" noProof="0" smtClean="0"/>
              <a:pPr/>
              <a:t>‹#›</a:t>
            </a:fld>
            <a:endParaRPr lang="pl-PL" noProof="0"/>
          </a:p>
        </p:txBody>
      </p: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rostokąt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sp>
        <p:nvSpPr>
          <p:cNvPr id="13" name="Obraz — symbol zastępczy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ytuł i zawartość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 rtlCol="0"/>
          <a:lstStyle>
            <a:lvl1pPr>
              <a:defRPr sz="54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Tytuł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825625"/>
            <a:ext cx="10771632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20XX-09-03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Tytuł prezentacji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pl-PL" noProof="0" smtClean="0"/>
              <a:pPr/>
              <a:t>‹#›</a:t>
            </a:fld>
            <a:endParaRPr lang="pl-PL" noProof="0"/>
          </a:p>
        </p:txBody>
      </p:sp>
      <p:sp>
        <p:nvSpPr>
          <p:cNvPr id="9" name="Grafika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  <p:sp>
        <p:nvSpPr>
          <p:cNvPr id="11" name="Grafika 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4752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848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afika 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  <p:sp>
        <p:nvSpPr>
          <p:cNvPr id="12" name="Grafika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  <p:sp>
        <p:nvSpPr>
          <p:cNvPr id="14" name="Grafika 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4848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4848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fika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  <p:sp>
        <p:nvSpPr>
          <p:cNvPr id="14" name="Grafika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  <p:sp>
        <p:nvSpPr>
          <p:cNvPr id="16" name="Grafika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83480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83480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</p:txBody>
      </p: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fika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  <p:sp>
        <p:nvSpPr>
          <p:cNvPr id="14" name="Grafika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  <p:sp>
        <p:nvSpPr>
          <p:cNvPr id="16" name="Grafika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  <p:sp>
        <p:nvSpPr>
          <p:cNvPr id="15" name="Tekst — symbol zastępczy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31352" y="1769269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7" name="Zawartość — symbol zastępczy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31352" y="2593181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rtlCol="0" anchor="b"/>
          <a:lstStyle>
            <a:lvl1pPr algn="l">
              <a:defRPr sz="5400" b="0" i="0" cap="none" baseline="0"/>
            </a:lvl1pPr>
          </a:lstStyle>
          <a:p>
            <a:pPr rtl="0"/>
            <a:r>
              <a:rPr lang="pl-PL" noProof="0"/>
              <a:t>Tytuł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pl-PL" noProof="0"/>
              <a:t>Tytuł prezentacji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pl-PL" noProof="0" smtClean="0"/>
              <a:pPr/>
              <a:t>‹#›</a:t>
            </a:fld>
            <a:endParaRPr lang="pl-PL" noProof="0"/>
          </a:p>
        </p:txBody>
      </p: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rostokąt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sp>
        <p:nvSpPr>
          <p:cNvPr id="13" name="Obraz — symbol zastępczy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0" name="Obraz — symbol zastępczy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1" name="Obraz — symbol zastępczy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ylko tytuł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raz — symbol zastępczy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2" name="Obraz — symbol zastępczy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1" name="Obraz — symbol zastępczy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0" name="Obraz — symbol zastępczy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0" y="585216"/>
            <a:ext cx="5276088" cy="2276856"/>
          </a:xfrm>
        </p:spPr>
        <p:txBody>
          <a:bodyPr rtlCol="0"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20XX-09-03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Tytuł prezentacji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pl-PL" noProof="0" smtClean="0"/>
              <a:pPr/>
              <a:t>‹#›</a:t>
            </a:fld>
            <a:endParaRPr lang="pl-PL" noProof="0"/>
          </a:p>
        </p:txBody>
      </p:sp>
      <p:sp>
        <p:nvSpPr>
          <p:cNvPr id="8" name="Grafika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  <p:sp>
        <p:nvSpPr>
          <p:cNvPr id="10" name="Grafika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  <p:sp>
        <p:nvSpPr>
          <p:cNvPr id="12" name="Grafika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/>
          </a:p>
        </p:txBody>
      </p: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kst — symbol zastępczy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720" y="3127248"/>
            <a:ext cx="5276088" cy="1124712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20XX-09-03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Tytuł prezentacji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 — symbol zastępczy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20XX-09-03</a:t>
            </a:r>
          </a:p>
        </p:txBody>
      </p:sp>
      <p:sp>
        <p:nvSpPr>
          <p:cNvPr id="3" name="Stopka — symbol zastępczy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Tytuł prezentacji</a:t>
            </a: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/>
              <a:t>Kliknij, aby edytować style wzorca tekstu</a:t>
            </a: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20XX-09-03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Tytuł prezentacji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Obraz — symbol zastępczy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/>
              <a:t>Kliknij, aby edytować style wzorca tekstu</a:t>
            </a: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 noProof="0"/>
              <a:t>20XX-09-03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Tytuł prezentacji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20XX-09-03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Tytuł prezentacji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8DA9DAA-006C-4F4B-980E-E3DF019B24E2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rmAutofit fontScale="90000"/>
          </a:bodyPr>
          <a:lstStyle/>
          <a:p>
            <a:r>
              <a:rPr lang="pl-PL" dirty="0"/>
              <a:t>Klasyfikacja obrazów ubrań z użyciem sieci neuronowych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pl-PL" sz="2000" dirty="0">
                <a:solidFill>
                  <a:schemeClr val="bg1"/>
                </a:solidFill>
              </a:rPr>
              <a:t>Magdalena Kochanowska s35136</a:t>
            </a:r>
          </a:p>
          <a:p>
            <a:pPr rtl="0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1DDBBC93-70DF-4E4E-98E3-08124185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b="1" cap="all" spc="400" dirty="0">
                <a:solidFill>
                  <a:schemeClr val="bg1"/>
                </a:solidFill>
                <a:latin typeface="+mn-lt"/>
              </a:rPr>
              <a:t>Cel Projektu</a:t>
            </a:r>
            <a:endParaRPr lang="pl-PL" dirty="0"/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65DE74E9-AA78-46C1-845A-0B72FA8AF3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46655" y="3106927"/>
            <a:ext cx="8607891" cy="3118104"/>
          </a:xfrm>
        </p:spPr>
        <p:txBody>
          <a:bodyPr rtlCol="0"/>
          <a:lstStyle/>
          <a:p>
            <a:pPr algn="l"/>
            <a:endParaRPr lang="pl-PL" sz="2000" dirty="0"/>
          </a:p>
          <a:p>
            <a:pPr algn="l"/>
            <a:r>
              <a:rPr lang="pl-PL" sz="2000" dirty="0"/>
              <a:t>Stworzenie modelu sieci neuronowej klasyfikującego obrazy ubrań, </a:t>
            </a:r>
          </a:p>
          <a:p>
            <a:pPr algn="l"/>
            <a:endParaRPr lang="pl-PL" sz="2000" dirty="0"/>
          </a:p>
          <a:p>
            <a:pPr algn="l"/>
            <a:r>
              <a:rPr lang="pl-PL" sz="2000" dirty="0"/>
              <a:t>Przypisanie obrazu do jednej z 10 klas, </a:t>
            </a:r>
          </a:p>
          <a:p>
            <a:pPr algn="l"/>
            <a:endParaRPr lang="pl-PL" sz="2000" dirty="0"/>
          </a:p>
          <a:p>
            <a:pPr algn="l"/>
            <a:r>
              <a:rPr lang="pl-PL" sz="2000" dirty="0"/>
              <a:t>Porównanie różnych </a:t>
            </a:r>
            <a:r>
              <a:rPr lang="pl-PL" sz="2000" dirty="0" err="1"/>
              <a:t>architektur</a:t>
            </a:r>
            <a:r>
              <a:rPr lang="pl-PL" sz="2000" dirty="0"/>
              <a:t> sieci neuronowych.</a:t>
            </a:r>
          </a:p>
          <a:p>
            <a:pPr algn="l" rtl="0"/>
            <a:endParaRPr lang="pl-PL" sz="1800" dirty="0">
              <a:solidFill>
                <a:schemeClr val="bg1"/>
              </a:solidFill>
            </a:endParaRP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6DCF8D89-56D9-4E2B-9838-07DFB6E9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pl-PL" smtClean="0"/>
              <a:pPr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13598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0115FF41-AFA4-4D25-AB42-AB034F4B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sz="5400" dirty="0"/>
              <a:t>Zbiór danych</a:t>
            </a:r>
            <a:endParaRPr lang="pl-PL" dirty="0"/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B0881FA9-F3B0-4912-B0E1-352094195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89656"/>
            <a:ext cx="9905661" cy="1253745"/>
          </a:xfrm>
        </p:spPr>
        <p:txBody>
          <a:bodyPr rtlCol="0">
            <a:normAutofit/>
          </a:bodyPr>
          <a:lstStyle/>
          <a:p>
            <a:r>
              <a:rPr lang="pl-PL" dirty="0" err="1"/>
              <a:t>Fashion</a:t>
            </a:r>
            <a:r>
              <a:rPr lang="pl-PL" dirty="0"/>
              <a:t>-MNIST jest popularnym zbiorem danych do klasyfikacji obrazów.</a:t>
            </a:r>
          </a:p>
          <a:p>
            <a:r>
              <a:rPr lang="pl-PL" dirty="0"/>
              <a:t>Zawiera 70 tysięcy obrazów (28 x 28 pikseli) podzielonych na 10 kategorii ubrań.</a:t>
            </a:r>
          </a:p>
        </p:txBody>
      </p:sp>
      <p:sp>
        <p:nvSpPr>
          <p:cNvPr id="11" name="Numer slajdu — symbol zastępczy 10">
            <a:extLst>
              <a:ext uri="{FF2B5EF4-FFF2-40B4-BE49-F238E27FC236}">
                <a16:creationId xmlns:a16="http://schemas.microsoft.com/office/drawing/2014/main" id="{56AE2454-CE9A-4A6B-AB5A-349E0D96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pl-PL" smtClean="0"/>
              <a:pPr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5334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C1611-253C-B04D-B0EC-D96EC1E8F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78EB3C10-994F-FDAB-CF83-36CD8DCFD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92" y="928624"/>
            <a:ext cx="9619488" cy="1179576"/>
          </a:xfrm>
        </p:spPr>
        <p:txBody>
          <a:bodyPr rtlCol="0">
            <a:normAutofit fontScale="90000"/>
          </a:bodyPr>
          <a:lstStyle/>
          <a:p>
            <a:pPr rtl="0"/>
            <a:r>
              <a:rPr lang="pl-PL" dirty="0"/>
              <a:t>Charakterystyka </a:t>
            </a:r>
            <a:r>
              <a:rPr lang="pl-PL" sz="5400" dirty="0"/>
              <a:t>Zbioru danych</a:t>
            </a:r>
            <a:endParaRPr lang="pl-PL" dirty="0"/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9F6B62A8-F591-5C01-48FE-50D051B79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4598" y="2906775"/>
            <a:ext cx="4619416" cy="2525438"/>
          </a:xfrm>
        </p:spPr>
        <p:txBody>
          <a:bodyPr rtlCol="0">
            <a:normAutofit fontScale="92500" lnSpcReduction="10000"/>
          </a:bodyPr>
          <a:lstStyle/>
          <a:p>
            <a:r>
              <a:rPr lang="pl-PL" b="1" dirty="0"/>
              <a:t>Najważniejsze informacje</a:t>
            </a:r>
          </a:p>
          <a:p>
            <a:r>
              <a:rPr lang="pl-PL" dirty="0"/>
              <a:t>60 000 obrazów treningowych, </a:t>
            </a:r>
          </a:p>
          <a:p>
            <a:r>
              <a:rPr lang="pl-PL" dirty="0"/>
              <a:t>10 000 obrazów testowych, </a:t>
            </a:r>
          </a:p>
          <a:p>
            <a:r>
              <a:rPr lang="pl-PL" dirty="0"/>
              <a:t>10 klas ubrań, </a:t>
            </a:r>
          </a:p>
          <a:p>
            <a:r>
              <a:rPr lang="pl-PL" dirty="0"/>
              <a:t>obrazy w skali szarości, </a:t>
            </a:r>
          </a:p>
          <a:p>
            <a:r>
              <a:rPr lang="pl-PL" dirty="0"/>
              <a:t>rozmiar obrazu: 28×28 pikseli. </a:t>
            </a:r>
          </a:p>
        </p:txBody>
      </p:sp>
      <p:sp>
        <p:nvSpPr>
          <p:cNvPr id="11" name="Numer slajdu — symbol zastępczy 10">
            <a:extLst>
              <a:ext uri="{FF2B5EF4-FFF2-40B4-BE49-F238E27FC236}">
                <a16:creationId xmlns:a16="http://schemas.microsoft.com/office/drawing/2014/main" id="{09205165-00B0-410B-F167-1E43B84BE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pl-PL" smtClean="0"/>
              <a:pPr rtl="0"/>
              <a:t>4</a:t>
            </a:fld>
            <a:endParaRPr lang="pl-PL"/>
          </a:p>
        </p:txBody>
      </p:sp>
      <p:sp>
        <p:nvSpPr>
          <p:cNvPr id="2" name="Zawartość — symbol zastępczy 3">
            <a:extLst>
              <a:ext uri="{FF2B5EF4-FFF2-40B4-BE49-F238E27FC236}">
                <a16:creationId xmlns:a16="http://schemas.microsoft.com/office/drawing/2014/main" id="{30370AE5-32DD-C56F-DAB9-39EECE1F59DC}"/>
              </a:ext>
            </a:extLst>
          </p:cNvPr>
          <p:cNvSpPr txBox="1">
            <a:spLocks/>
          </p:cNvSpPr>
          <p:nvPr/>
        </p:nvSpPr>
        <p:spPr>
          <a:xfrm>
            <a:off x="6883400" y="2303949"/>
            <a:ext cx="5308600" cy="43430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b="1" dirty="0"/>
              <a:t>Klasy</a:t>
            </a:r>
          </a:p>
          <a:p>
            <a:r>
              <a:rPr lang="pl-PL" dirty="0"/>
              <a:t>T-shirt/top </a:t>
            </a:r>
          </a:p>
          <a:p>
            <a:r>
              <a:rPr lang="pl-PL" dirty="0" err="1"/>
              <a:t>Trouser</a:t>
            </a:r>
            <a:r>
              <a:rPr lang="pl-PL" dirty="0"/>
              <a:t> </a:t>
            </a:r>
          </a:p>
          <a:p>
            <a:r>
              <a:rPr lang="pl-PL" dirty="0" err="1"/>
              <a:t>Pullover</a:t>
            </a:r>
            <a:r>
              <a:rPr lang="pl-PL" dirty="0"/>
              <a:t> </a:t>
            </a:r>
          </a:p>
          <a:p>
            <a:r>
              <a:rPr lang="pl-PL" dirty="0" err="1"/>
              <a:t>Dress</a:t>
            </a:r>
            <a:r>
              <a:rPr lang="pl-PL" dirty="0"/>
              <a:t> </a:t>
            </a:r>
          </a:p>
          <a:p>
            <a:r>
              <a:rPr lang="pl-PL" dirty="0" err="1"/>
              <a:t>Coat</a:t>
            </a:r>
            <a:r>
              <a:rPr lang="pl-PL" dirty="0"/>
              <a:t> </a:t>
            </a:r>
          </a:p>
          <a:p>
            <a:r>
              <a:rPr lang="pl-PL" dirty="0" err="1"/>
              <a:t>Sandal</a:t>
            </a:r>
            <a:r>
              <a:rPr lang="pl-PL" dirty="0"/>
              <a:t> </a:t>
            </a:r>
          </a:p>
          <a:p>
            <a:r>
              <a:rPr lang="pl-PL" dirty="0" err="1"/>
              <a:t>Shirt</a:t>
            </a:r>
            <a:r>
              <a:rPr lang="pl-PL" dirty="0"/>
              <a:t> </a:t>
            </a:r>
          </a:p>
          <a:p>
            <a:r>
              <a:rPr lang="pl-PL" dirty="0" err="1"/>
              <a:t>Sneaker</a:t>
            </a:r>
            <a:r>
              <a:rPr lang="pl-PL" dirty="0"/>
              <a:t> </a:t>
            </a:r>
          </a:p>
          <a:p>
            <a:r>
              <a:rPr lang="pl-PL" dirty="0" err="1"/>
              <a:t>Bag</a:t>
            </a:r>
            <a:r>
              <a:rPr lang="pl-PL" dirty="0"/>
              <a:t> </a:t>
            </a:r>
          </a:p>
          <a:p>
            <a:r>
              <a:rPr lang="pl-PL" dirty="0" err="1"/>
              <a:t>Ankle</a:t>
            </a:r>
            <a:r>
              <a:rPr lang="pl-PL" dirty="0"/>
              <a:t> </a:t>
            </a:r>
            <a:r>
              <a:rPr lang="pl-PL" dirty="0" err="1"/>
              <a:t>boot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57091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umer slajdu — symbol zastępczy 5">
            <a:extLst>
              <a:ext uri="{FF2B5EF4-FFF2-40B4-BE49-F238E27FC236}">
                <a16:creationId xmlns:a16="http://schemas.microsoft.com/office/drawing/2014/main" id="{4FC290B8-BF94-4636-BFAB-9FD67F4A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D8DA9DAA-006C-4F4B-980E-E3DF019B24E2}" type="slidenum">
              <a:rPr lang="pl-PL" b="1" cap="all" spc="100" smtClean="0">
                <a:solidFill>
                  <a:schemeClr val="accent2"/>
                </a:solidFill>
              </a:rPr>
              <a:t>5</a:t>
            </a:fld>
            <a:endParaRPr lang="pl-PL" b="1" cap="all" spc="100" dirty="0">
              <a:solidFill>
                <a:schemeClr val="accent2"/>
              </a:solidFill>
            </a:endParaRP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427742D4-8F3F-391E-651F-8D8963581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978" y="1215911"/>
            <a:ext cx="9608044" cy="442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914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3531C-2C3A-CC60-1DB3-B117E15D9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umer slajdu — symbol zastępczy 5">
            <a:extLst>
              <a:ext uri="{FF2B5EF4-FFF2-40B4-BE49-F238E27FC236}">
                <a16:creationId xmlns:a16="http://schemas.microsoft.com/office/drawing/2014/main" id="{766E05B3-F600-9BB7-03D5-EC25DA4D0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D8DA9DAA-006C-4F4B-980E-E3DF019B24E2}" type="slidenum">
              <a:rPr lang="pl-PL" b="1" cap="all" spc="100" smtClean="0">
                <a:solidFill>
                  <a:schemeClr val="accent2"/>
                </a:solidFill>
              </a:rPr>
              <a:t>6</a:t>
            </a:fld>
            <a:endParaRPr lang="pl-PL" b="1" cap="all" spc="100" dirty="0">
              <a:solidFill>
                <a:schemeClr val="accent2"/>
              </a:solidFill>
            </a:endParaRP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93DBB826-6D72-3B7E-C2D8-CE0D32BA8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15" y="156101"/>
            <a:ext cx="3924502" cy="4229317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E8237895-3013-A901-875B-2816338F8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193" y="2733786"/>
            <a:ext cx="3962604" cy="4038808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EFD2A098-99BA-96BD-6D63-DBB55AADF9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7672" y="85406"/>
            <a:ext cx="4102311" cy="414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987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55E27C7C-4B68-4BBC-BF36-8959D8493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591"/>
            <a:ext cx="10515600" cy="1325563"/>
          </a:xfrm>
        </p:spPr>
        <p:txBody>
          <a:bodyPr rtlCol="0">
            <a:normAutofit/>
          </a:bodyPr>
          <a:lstStyle/>
          <a:p>
            <a:r>
              <a:rPr lang="pl-PL" dirty="0"/>
              <a:t>Wstępna eksploracja danych</a:t>
            </a:r>
            <a:endParaRPr lang="pl-PL" sz="5400" dirty="0"/>
          </a:p>
        </p:txBody>
      </p:sp>
      <p:sp>
        <p:nvSpPr>
          <p:cNvPr id="7" name="Numer slajdu — symbol zastępczy 5">
            <a:extLst>
              <a:ext uri="{FF2B5EF4-FFF2-40B4-BE49-F238E27FC236}">
                <a16:creationId xmlns:a16="http://schemas.microsoft.com/office/drawing/2014/main" id="{4ECDE54D-4BD2-4764-A36A-8487DB61E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D8DA9DAA-006C-4F4B-980E-E3DF019B24E2}" type="slidenum">
              <a:rPr lang="pl-PL" b="1" cap="all" spc="100" smtClean="0">
                <a:solidFill>
                  <a:schemeClr val="accent2"/>
                </a:solidFill>
              </a:rPr>
              <a:t>7</a:t>
            </a:fld>
            <a:endParaRPr lang="pl-PL" b="1" cap="all" spc="100">
              <a:solidFill>
                <a:schemeClr val="accent2"/>
              </a:solidFill>
            </a:endParaRP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A4F5F984-1475-09F6-3DEB-8E9B96F10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775" y="1522154"/>
            <a:ext cx="8712648" cy="501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27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1A685-5E43-2E7B-24AC-1B129CEEC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267A9DBF-1D61-CDD0-95F1-75098D13D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l-PL" dirty="0"/>
              <a:t>Wstępna eksploracja danych</a:t>
            </a:r>
            <a:endParaRPr lang="pl-PL" sz="5400" dirty="0"/>
          </a:p>
        </p:txBody>
      </p:sp>
      <p:sp>
        <p:nvSpPr>
          <p:cNvPr id="7" name="Numer slajdu — symbol zastępczy 5">
            <a:extLst>
              <a:ext uri="{FF2B5EF4-FFF2-40B4-BE49-F238E27FC236}">
                <a16:creationId xmlns:a16="http://schemas.microsoft.com/office/drawing/2014/main" id="{613785F6-1B78-49B2-AD5D-A86098C32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D8DA9DAA-006C-4F4B-980E-E3DF019B24E2}" type="slidenum">
              <a:rPr lang="pl-PL" b="1" cap="all" spc="100" smtClean="0">
                <a:solidFill>
                  <a:schemeClr val="accent2"/>
                </a:solidFill>
              </a:rPr>
              <a:t>8</a:t>
            </a:fld>
            <a:endParaRPr lang="pl-PL" b="1" cap="all" spc="100">
              <a:solidFill>
                <a:schemeClr val="accent2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910A959-1886-8CB3-7D0C-1FD4614D4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/>
              <a:t>Wnioski z eksploracji</a:t>
            </a:r>
          </a:p>
          <a:p>
            <a:pPr lvl="1"/>
            <a:r>
              <a:rPr lang="pl-PL" dirty="0"/>
              <a:t>zbiór jest zbalansowany, </a:t>
            </a:r>
          </a:p>
          <a:p>
            <a:pPr lvl="1"/>
            <a:r>
              <a:rPr lang="pl-PL" dirty="0"/>
              <a:t>każda klasa zawiera około 6000 przykładów, </a:t>
            </a:r>
          </a:p>
          <a:p>
            <a:pPr lvl="1"/>
            <a:r>
              <a:rPr lang="pl-PL" dirty="0"/>
              <a:t>brak dominującej klasy, nie ma braków danych</a:t>
            </a:r>
          </a:p>
          <a:p>
            <a:pPr lvl="1"/>
            <a:r>
              <a:rPr lang="pl-PL" dirty="0"/>
              <a:t>wartości pikseli mieszczą się w zakresie 0–255. </a:t>
            </a:r>
          </a:p>
          <a:p>
            <a:pPr marL="457200" lvl="1" indent="0">
              <a:buNone/>
            </a:pPr>
            <a:endParaRPr lang="pl-PL" dirty="0"/>
          </a:p>
          <a:p>
            <a:r>
              <a:rPr lang="pl-PL" b="1" dirty="0"/>
              <a:t>Wniosek</a:t>
            </a:r>
          </a:p>
          <a:p>
            <a:pPr lvl="1"/>
            <a:r>
              <a:rPr lang="pl-PL" dirty="0"/>
              <a:t>Zbiór danych jest dobrze przygotowany do budowy modeli klasyfikacyjnych i nie wymaga równoważenia klas. (Wydzielenie zestawu walidacyjnego - zastosuję strategię </a:t>
            </a:r>
            <a:r>
              <a:rPr lang="pl-PL" dirty="0" err="1"/>
              <a:t>stratify</a:t>
            </a:r>
            <a:r>
              <a:rPr lang="pl-PL" dirty="0"/>
              <a:t> – zachowam proporcjonalny rozkład klas)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88225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Numer slajdu — symbol zastępczy 23">
            <a:extLst>
              <a:ext uri="{FF2B5EF4-FFF2-40B4-BE49-F238E27FC236}">
                <a16:creationId xmlns:a16="http://schemas.microsoft.com/office/drawing/2014/main" id="{5D838446-B95D-4AB7-B8CA-D5804BB7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pl-PL" smtClean="0"/>
              <a:pPr rtl="0"/>
              <a:t>9</a:t>
            </a:fld>
            <a:endParaRPr lang="pl-PL"/>
          </a:p>
        </p:txBody>
      </p:sp>
      <p:sp>
        <p:nvSpPr>
          <p:cNvPr id="6" name="Tytuł 5">
            <a:extLst>
              <a:ext uri="{FF2B5EF4-FFF2-40B4-BE49-F238E27FC236}">
                <a16:creationId xmlns:a16="http://schemas.microsoft.com/office/drawing/2014/main" id="{FF777B66-94CB-491C-AC6B-BDAC98E21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807" y="1649518"/>
            <a:ext cx="5276088" cy="2276856"/>
          </a:xfrm>
        </p:spPr>
        <p:txBody>
          <a:bodyPr rtlCol="0"/>
          <a:lstStyle/>
          <a:p>
            <a:pPr rtl="0"/>
            <a:r>
              <a:rPr lang="pl-PL" dirty="0"/>
              <a:t>Dziękuję!</a:t>
            </a:r>
          </a:p>
        </p:txBody>
      </p:sp>
    </p:spTree>
    <p:extLst>
      <p:ext uri="{BB962C8B-B14F-4D97-AF65-F5344CB8AC3E}">
        <p14:creationId xmlns:p14="http://schemas.microsoft.com/office/powerpoint/2010/main" val="92731315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_Wszechświat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115_TF89338750_Win32" id="{E960A030-87E7-4B19-99FC-B88930A440A1}" vid="{69F1DB08-5F0C-41F7-8986-226F7D1435B9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{A9A86CE6-191F-4CD6-8F16-26FFEE81A87D}TF54b766f8-63ee-43b7-9d15-113a5f305028c7c58f66_win32-b1b8c6676f02</Template>
  <TotalTime>52</TotalTime>
  <Words>190</Words>
  <Application>Microsoft Office PowerPoint</Application>
  <PresentationFormat>Panoramiczny</PresentationFormat>
  <Paragraphs>58</Paragraphs>
  <Slides>9</Slides>
  <Notes>9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3" baseType="lpstr">
      <vt:lpstr>Arial</vt:lpstr>
      <vt:lpstr>Calibri</vt:lpstr>
      <vt:lpstr>Univers</vt:lpstr>
      <vt:lpstr>Gradient_Wszechświat</vt:lpstr>
      <vt:lpstr>Klasyfikacja obrazów ubrań z użyciem sieci neuronowych</vt:lpstr>
      <vt:lpstr>Cel Projektu</vt:lpstr>
      <vt:lpstr>Zbiór danych</vt:lpstr>
      <vt:lpstr>Charakterystyka Zbioru danych</vt:lpstr>
      <vt:lpstr>Prezentacja programu PowerPoint</vt:lpstr>
      <vt:lpstr>Prezentacja programu PowerPoint</vt:lpstr>
      <vt:lpstr>Wstępna eksploracja danych</vt:lpstr>
      <vt:lpstr>Wstępna eksploracja danych</vt:lpstr>
      <vt:lpstr>Dziękuję!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Magdalena Kochanowska</dc:creator>
  <cp:lastModifiedBy>Magdalena Kochanowska</cp:lastModifiedBy>
  <cp:revision>17</cp:revision>
  <dcterms:created xsi:type="dcterms:W3CDTF">2026-06-12T20:16:40Z</dcterms:created>
  <dcterms:modified xsi:type="dcterms:W3CDTF">2026-06-12T21:09:13Z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